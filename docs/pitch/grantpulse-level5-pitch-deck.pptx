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2b9a534fa74e36" /><Relationship Type="http://schemas.openxmlformats.org/officeDocument/2006/relationships/extended-properties" Target="/docProps/app.xml" Id="Ra392a34f083e4eca" /><Relationship Type="http://schemas.openxmlformats.org/officeDocument/2006/relationships/officeDocument" Target="/ppt/presentation.xml" Id="R97ae6a2cc00f4d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105e9c8cd473d"/>
  </p:sldMasterIdLst>
  <p:notesMasterIdLst>
    <p:notesMasterId xmlns:r="http://schemas.openxmlformats.org/officeDocument/2006/relationships" r:id="R34b2c794b6d041cd"/>
  </p:notesMasterIdLst>
  <p:sldIdLst>
    <p:sldId xmlns:r="http://schemas.openxmlformats.org/officeDocument/2006/relationships" id="256" r:id="R0e2eb4d4df8b425b"/>
    <p:sldId xmlns:r="http://schemas.openxmlformats.org/officeDocument/2006/relationships" id="257" r:id="R5919aa6c292f46ee"/>
    <p:sldId xmlns:r="http://schemas.openxmlformats.org/officeDocument/2006/relationships" id="258" r:id="R4552334d6ce34ac1"/>
    <p:sldId xmlns:r="http://schemas.openxmlformats.org/officeDocument/2006/relationships" id="259" r:id="R2d5fb684c2dc4955"/>
    <p:sldId xmlns:r="http://schemas.openxmlformats.org/officeDocument/2006/relationships" id="260" r:id="R47f5b851d46645d4"/>
    <p:sldId xmlns:r="http://schemas.openxmlformats.org/officeDocument/2006/relationships" id="261" r:id="Rb12f21031e35435f"/>
    <p:sldId xmlns:r="http://schemas.openxmlformats.org/officeDocument/2006/relationships" id="262" r:id="Rf5693313a456430c"/>
    <p:sldId xmlns:r="http://schemas.openxmlformats.org/officeDocument/2006/relationships" id="263" r:id="R9b60fc4c25bb4869"/>
    <p:sldId xmlns:r="http://schemas.openxmlformats.org/officeDocument/2006/relationships" id="264" r:id="Rd3f02745bfd643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808c8fa87f4a17" /><Relationship Type="http://schemas.openxmlformats.org/officeDocument/2006/relationships/slideMaster" Target="/ppt/slideMasters/slideMaster1.xml" Id="Rd8a105e9c8cd473d" /><Relationship Type="http://schemas.openxmlformats.org/officeDocument/2006/relationships/notesMaster" Target="/ppt/notesMasters/notesMaster1.xml" Id="R34b2c794b6d041cd" /><Relationship Type="http://schemas.openxmlformats.org/officeDocument/2006/relationships/presProps" Target="/ppt/presProps.xml" Id="Rcbfcee2aa889450c" /><Relationship Type="http://schemas.openxmlformats.org/officeDocument/2006/relationships/tableStyles" Target="/ppt/tableStyles.xml" Id="R13e7ae3a76be4fa3" /><Relationship Type="http://schemas.openxmlformats.org/officeDocument/2006/relationships/slide" Target="/ppt/slides/slide1.xml" Id="R0e2eb4d4df8b425b" /><Relationship Type="http://schemas.openxmlformats.org/officeDocument/2006/relationships/slide" Target="/ppt/slides/slide2.xml" Id="R5919aa6c292f46ee" /><Relationship Type="http://schemas.openxmlformats.org/officeDocument/2006/relationships/slide" Target="/ppt/slides/slide3.xml" Id="R4552334d6ce34ac1" /><Relationship Type="http://schemas.openxmlformats.org/officeDocument/2006/relationships/slide" Target="/ppt/slides/slide4.xml" Id="R2d5fb684c2dc4955" /><Relationship Type="http://schemas.openxmlformats.org/officeDocument/2006/relationships/slide" Target="/ppt/slides/slide5.xml" Id="R47f5b851d46645d4" /><Relationship Type="http://schemas.openxmlformats.org/officeDocument/2006/relationships/slide" Target="/ppt/slides/slide6.xml" Id="Rb12f21031e35435f" /><Relationship Type="http://schemas.openxmlformats.org/officeDocument/2006/relationships/slide" Target="/ppt/slides/slide7.xml" Id="Rf5693313a456430c" /><Relationship Type="http://schemas.openxmlformats.org/officeDocument/2006/relationships/slide" Target="/ppt/slides/slide8.xml" Id="R9b60fc4c25bb4869" /><Relationship Type="http://schemas.openxmlformats.org/officeDocument/2006/relationships/slide" Target="/ppt/slides/slide9.xml" Id="Rd3f02745bfd643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35739b0fb544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aeedcde6c74c23" /><Relationship Type="http://schemas.openxmlformats.org/officeDocument/2006/relationships/notesMaster" Target="/ppt/notesMasters/notesMaster1.xml" Id="Rc2e8c4f9bcb545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3e13ea9dda4dd6" /><Relationship Type="http://schemas.openxmlformats.org/officeDocument/2006/relationships/notesMaster" Target="/ppt/notesMasters/notesMaster1.xml" Id="Ra7165e61bb2845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e724d1318a428e" /><Relationship Type="http://schemas.openxmlformats.org/officeDocument/2006/relationships/notesMaster" Target="/ppt/notesMasters/notesMaster1.xml" Id="R0ce8f93fac1e4e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af0096c1594313" /><Relationship Type="http://schemas.openxmlformats.org/officeDocument/2006/relationships/notesMaster" Target="/ppt/notesMasters/notesMaster1.xml" Id="Rd031fc5d3ec0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c98be946bb4f72" /><Relationship Type="http://schemas.openxmlformats.org/officeDocument/2006/relationships/notesMaster" Target="/ppt/notesMasters/notesMaster1.xml" Id="R8483c58771cc47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d21d4237b34def" /><Relationship Type="http://schemas.openxmlformats.org/officeDocument/2006/relationships/notesMaster" Target="/ppt/notesMasters/notesMaster1.xml" Id="R10c0889b6e54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d9aa73f3ad49c4" /><Relationship Type="http://schemas.openxmlformats.org/officeDocument/2006/relationships/notesMaster" Target="/ppt/notesMasters/notesMaster1.xml" Id="R5be18478ec2640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4aec68dacf4cf1" /><Relationship Type="http://schemas.openxmlformats.org/officeDocument/2006/relationships/notesMaster" Target="/ppt/notesMasters/notesMaster1.xml" Id="Rd07249970c6c49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fd2c20965a402b" /><Relationship Type="http://schemas.openxmlformats.org/officeDocument/2006/relationships/notesMaster" Target="/ppt/notesMasters/notesMaster1.xml" Id="Ref156370644e4c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project overview, live demo URL, deployed Stellar Testnet contract ID.</a:t>
            </a:r>
          </a:p>
          <a:p xmlns:a="http://schemas.openxmlformats.org/drawingml/2006/main">
            <a:r>
              <a:t>- docs/screenshots/level5-growth-proof.png: Level 5 product screenshot used as visual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 GrantPulse vision and target use cases for bootcamps, hackathons, and demo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frontend/src/App.tsx: Freighter, Friendbot, XLM payment, grant workflow, feedback, and export UI.</a:t>
            </a:r>
          </a:p>
          <a:p xmlns:a="http://schemas.openxmlformats.org/drawingml/2006/main">
            <a:r>
              <a:t>- contracts/grantpulse/src/lib.rs: grant creation, milestone, review, archive, and read contract functions.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docs/demo/level5-demo-script.md: recommended Level 5 recording sequence.</a:t>
            </a:r>
          </a:p>
          <a:p xmlns:a="http://schemas.openxmlformats.org/drawingml/2006/main">
            <a:r>
              <a:t>- docs/screenshots/level5-growth-panel.png: Level 5 growth proof and feedback panel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frontend/src/lib/grantpulse.ts: generated client connection to Stellar Testnet Soroban RPC.</a:t>
            </a:r>
          </a:p>
          <a:p xmlns:a="http://schemas.openxmlformats.org/drawingml/2006/main">
            <a:r>
              <a:t>- frontend/src/lib/telemetry.ts: local telemetry, feedback storage, Level 5 summary, CSV and JSON exports.</a:t>
            </a:r>
          </a:p>
          <a:p xmlns:a="http://schemas.openxmlformats.org/drawingml/2006/main">
            <a:r>
              <a:t>- contracts/grantpulse/src/lib.rs: on-chain grant lifecycle data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docs/submission/level5-checklist.md: Level 5 user growth, proof, presentation, and technical standards.</a:t>
            </a:r>
          </a:p>
          <a:p xmlns:a="http://schemas.openxmlformats.org/drawingml/2006/main">
            <a:r>
              <a:t>- docs/submission/level5-user-feedback-export.xlsx: response workbook structure and target KPIs.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docs/submission/level5-feedback-iteration-summary.md: feedback themes and next phase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docs/submission/level5-feedback-iteration-summary.md: next phase decisions and feedback-driven iteration placeholders.</a:t>
            </a:r>
          </a:p>
          <a:p xmlns:a="http://schemas.openxmlformats.org/drawingml/2006/main">
            <a:r>
              <a:t>- README.md: Level 5 documentation and submission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docs/submission/level5-checklist.md: final submission package requirements and status.</a:t>
            </a:r>
          </a:p>
          <a:p xmlns:a="http://schemas.openxmlformats.org/drawingml/2006/main">
            <a:r>
              <a:t>- docs/screenshots/level5-mobile-growth-proof.png: mobile responsive Level 5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ea95268d04a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a1486bcf844496" /><Relationship Type="http://schemas.openxmlformats.org/officeDocument/2006/relationships/slideLayout" Target="/ppt/slideLayouts/slideLayout1.xml" Id="Rc48129a9f5574d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8129a9f5574d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3b50a65a049fc" /><Relationship Type="http://schemas.openxmlformats.org/officeDocument/2006/relationships/image" Target="/ppt/media/image.png" Id="R1cdaef40736140ed" /><Relationship Type="http://schemas.openxmlformats.org/officeDocument/2006/relationships/notesSlide" Target="/ppt/notesSlides/notesSlide1.xml" Id="Rf74d606c039745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eb54f95b94775" /><Relationship Type="http://schemas.openxmlformats.org/officeDocument/2006/relationships/notesSlide" Target="/ppt/notesSlides/notesSlide2.xml" Id="R2c6d8cf9e43a41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d4cd07fcf44fc" /><Relationship Type="http://schemas.openxmlformats.org/officeDocument/2006/relationships/notesSlide" Target="/ppt/notesSlides/notesSlide3.xml" Id="Rbbf8f881b35b40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c04ac922b4705" /><Relationship Type="http://schemas.openxmlformats.org/officeDocument/2006/relationships/image" Target="/ppt/media/image2.png" Id="Rcbba2506c9e14030" /><Relationship Type="http://schemas.openxmlformats.org/officeDocument/2006/relationships/notesSlide" Target="/ppt/notesSlides/notesSlide4.xml" Id="R7c130202a4f744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b680330e4446f" /><Relationship Type="http://schemas.openxmlformats.org/officeDocument/2006/relationships/notesSlide" Target="/ppt/notesSlides/notesSlide5.xml" Id="Rc96368d0063247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5b322ab674978" /><Relationship Type="http://schemas.openxmlformats.org/officeDocument/2006/relationships/chart" Target="/ppt/slides/charts/chart1.xml" Id="R28230624cd444625" /><Relationship Type="http://schemas.openxmlformats.org/officeDocument/2006/relationships/notesSlide" Target="/ppt/notesSlides/notesSlide6.xml" Id="Recbbf39c279e43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117bd3c0f45d1" /><Relationship Type="http://schemas.openxmlformats.org/officeDocument/2006/relationships/notesSlide" Target="/ppt/notesSlides/notesSlide7.xml" Id="R711068dcb9ac43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56c84a646424a" /><Relationship Type="http://schemas.openxmlformats.org/officeDocument/2006/relationships/notesSlide" Target="/ppt/notesSlides/notesSlide8.xml" Id="Rb765acc7aeec48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46fdcd1fb4f6b" /><Relationship Type="http://schemas.openxmlformats.org/officeDocument/2006/relationships/image" Target="/ppt/media/image3.png" Id="R976db136d8254dfc" /><Relationship Type="http://schemas.openxmlformats.org/officeDocument/2006/relationships/notesSlide" Target="/ppt/notesSlides/notesSlide9.xml" Id="R32649d0b2a984c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Current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Users</c:v>
              </c:pt>
              <c:pt idx="1">
                <c:v>Wallets</c:v>
              </c:pt>
              <c:pt idx="2">
                <c:v>Tx proofs</c:v>
              </c:pt>
              <c:pt idx="3">
                <c:v>Feedback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Target</c:v>
          </c:tx>
          <c:spPr>
            <a:solidFill xmlns:a="http://schemas.openxmlformats.org/drawingml/2006/main">
              <a:srgbClr val="14845A"/>
            </a:solidFill>
          </c:spPr>
          <c:cat>
            <c:strLit>
              <c:ptCount val="4"/>
              <c:pt idx="0">
                <c:v>Users</c:v>
              </c:pt>
              <c:pt idx="1">
                <c:v>Wallets</c:v>
              </c:pt>
              <c:pt idx="2">
                <c:v>Tx proofs</c:v>
              </c:pt>
              <c:pt idx="3">
                <c:v>Feedback</c:v>
              </c:pt>
            </c:strLit>
          </c:cat>
          <c:val>
            <c:numLit>
              <c:formatCode>General</c:formatCode>
              <c:ptCount val="4"/>
              <c:pt idx="0">
                <c:v>50</c:v>
              </c:pt>
              <c:pt idx="1">
                <c:v>50</c:v>
              </c:pt>
              <c:pt idx="2">
                <c:v>50</c:v>
              </c:pt>
              <c:pt idx="3">
                <c:v>50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88069-4982-41F9-9FA7-556E50FD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GrantPulse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F6DF3-AC53-4EE7-ABB0-F89545C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On-chain mini-grant progress that builders and reviewers can verify.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606A1-5D44-4344-B5D2-8BA52A6F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A"/>
          </a:solidFill>
          <a:ln xmlns:a="http://schemas.openxmlformats.org/drawingml/2006/main" w="0">
            <a:solidFill>
              <a:srgbClr val="148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91EAE-3F96-4CB3-9811-A1354D01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Level 5 Blue Belt: user growth, product iteration, pitch and demo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3F97D-9FF8-4A88-A90F-BE2440E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"/>
            <a:ext cx="54483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aef40736140ed"/>
          <a:srcRect xmlns:a="http://schemas.openxmlformats.org/drawingml/2006/main" l="0" t="20316" r="0" b="203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800100"/>
            <a:ext cx="4991100" cy="4800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0F094-C731-4F8B-A4DF-DA58E30F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49765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FF961-F585-4C5C-9346-BA03BFE1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Small grant programs still lose trust in handoffs.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64E6E-85C3-4318-9866-3EB54A9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Hackathon, bootcamp, and microgrant teams often rely on private forms, screenshots, and manual reviewer notes. That makes progress hard to verify and harder to reuse.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CA1A0-78CE-4DDF-B00C-37835973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4B42"/>
          </a:solidFill>
          <a:ln xmlns:a="http://schemas.openxmlformats.org/drawingml/2006/main" w="0">
            <a:solidFill>
              <a:srgbClr val="D34B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14E6-E7C0-4165-B152-23AC06CD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Progress is scattered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2FBC1-01CE-4B4E-B065-51C6D3E6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067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Milestone status, reviewer decisions, and payment proof usually live in separate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B6DCF-1E1D-424D-AE9A-D66CD7A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987E9-A52D-494C-97CB-18C9857F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is repetitive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00FF6-22BF-4278-8A08-244FF973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3067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Reviewers need the same wallet, project, and status context for every update.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9E12E-7AC2-41B6-BF49-F89348EA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C0494-D59D-4F38-9695-AF9471E5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Trust is fragile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76431-345F-4DD5-BDE0-B35CAF31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3067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 promising project still needs public proof that activity happened on Testnet.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3BD93-2187-46A1-89A1-8A739F11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9236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96421-8BE8-42DA-9928-EEF3A9A3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GrantPulse turns grant progress into a verifiable workflow.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3C1E3-845C-49A4-BD29-26A5AAF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66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The app combines Freighter onboarding, Stellar Testnet transactions, and Soroban grant records so a project can show both product progress and wallet-backed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496FB-5741-4D90-98BA-FDC4E408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333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8C69B-6A7C-423F-A69D-B91C4C5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A"/>
          </a:solidFill>
          <a:ln xmlns:a="http://schemas.openxmlformats.org/drawingml/2006/main" w="0">
            <a:solidFill>
              <a:srgbClr val="1484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114EE-A6EE-47E2-B3F6-DF25F0E8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FB646-F926-4D86-A3E8-F26C2A19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Wallet connection, Friendbot funding, balance and XLM transfer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CC9FA-A14F-40FB-9AE6-854CEBB0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3333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E2B68-2EA9-4F1A-B642-260AEC7E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576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4F9D0-57A3-4B3C-8174-F2FDE637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A9514-75E2-49F3-9B5C-8583FD9B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434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Grant creation, milestone updates, reviewer approvals and archive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4A926-64B5-430B-8F05-3A26B768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3333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3D4F5-E26C-4414-9171-32CCBD5B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5256F-72E5-4454-8233-39E0BC35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0B769-564C-4A29-B6D1-241940A6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434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Telemetry, feedback, CSV and JSON exports for Level 5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1DE8B-6417-4A60-81F9-288A051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1093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D08BD-DFC8-43AF-9418-D47873CE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The demo flow mirrors real testnet usage.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a2506c9e14030"/>
          <a:stretch xmlns:a="http://schemas.openxmlformats.org/drawingml/2006/main"/>
        </p:blipFill>
        <p:spPr>
          <a:xfrm xmlns:a="http://schemas.openxmlformats.org/drawingml/2006/main">
            <a:off x="571500" y="1546113"/>
            <a:ext cx="5219700" cy="395627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119C-310C-4360-AA49-16D5D37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762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1. Connect Freighter on Stellar Testnet</a:t>
            </a:r>
          </a:p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2. Fund the wallet if needed</a:t>
            </a:r>
          </a:p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3. Send a real XLM transaction</a:t>
            </a:r>
          </a:p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4. Create and update a grant</a:t>
            </a:r>
          </a:p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5. Submit named feedback with proof</a:t>
            </a:r>
          </a:p>
          <a:p xmlns:a="http://schemas.openxmlformats.org/drawingml/2006/main">
            <a:pPr algn="l">
              <a:def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6. Export CSV and JSON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FB970-ADE8-4475-AEB0-D3620907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2984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2E265-D3A0-4E14-A3D8-5E299E42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Architecture keeps proof close to the user action.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18AFE-D162-4F77-B4AB-C314FC0E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AEB4F-BF2F-4DE1-9A48-E36A30D3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React + TypeScript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D2DC9-FAAF-42A3-AC33-9AD50B8D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Freighter wallet session, forms, evidence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6FC2E-D97E-41B6-A62A-3C5C7E0C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B22B2-6523-4DBD-950A-D936A7F8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00EE4-0284-49BC-B896-BD1B0A0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Stellar SDK + Horizon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05D92-0F0E-4FD3-8B3D-9B9A27D3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528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XLM balance, Friendbot, payment and account funding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6960B-7CF3-4EDB-8C23-CA50A1F5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33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AE4A5-4AD7-4FF7-8340-148A2987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92B47-9B77-4D4A-A59E-FDE351C6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Soroban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F56B3-5574-4ED2-8D15-582EAE8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Grant storage, milestones, review state, archive flag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D90EC-9197-4A93-8FE2-66012425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E6688-780A-4400-A4CA-4C92E40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416C2-41B4-41E4-9EBC-1C012AEA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Evidence exports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85319-09C5-4A14-8D8B-BAABEA8A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Local telemetry, feedback rows, CSV and JSON bundle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6CB97-6120-4763-9CF4-2E988009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Every Level 5 proof item can be traced back to a wallet interaction, contract call, feedback row, or exported evidence file.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F19AF-8366-4272-BAAA-A820FE25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26694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FCAE3-7322-4302-B6BA-3D7D6621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Level 5 proof targets 50 real users.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6477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230624cd44462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A3154-BB5A-4113-984B-2E59E6C9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02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What will complete this slide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E141A-8108-4CB7-A8A4-B4D17CD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342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- 50+ Google Form rows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- 50+ wallet addresses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- Real transaction hashes or Stellar Expert URLs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- Analytics screenshots from the live app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- Feedback summary tied to commit links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326FE-C3EF-420D-9DA5-9989602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1561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0A041-0491-4C47-B894-7FF18E0A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Growth strategy focuses on activation, evidence, and retention.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E9E2D-9894-422B-9337-C268AE4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8564E-B294-4676-9E54-2B561E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Acquire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B2F90-950C-44F1-811E-36C3A8D9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067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Recruit Stellar bootcamp peers, hackathon builders, grant reviewers, and early community testers.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6BD1F-9989-4CAC-8E64-2158D3BB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A"/>
          </a:solidFill>
          <a:ln xmlns:a="http://schemas.openxmlformats.org/drawingml/2006/main" w="0">
            <a:solidFill>
              <a:srgbClr val="1484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87D1A-C9FE-4FEA-A4BA-0AE744E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Activate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1ED36-DE9D-4C7F-9E4E-7BF4D658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3067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Guide each tester through wallet connect, funding, one transaction, and a grant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2DE73-EF40-4B83-85D1-EEFCE0D4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76131-093B-4712-87BF-4F4D9AF9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Retain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FA4F2-29D7-470D-BC6C-1B75A03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3067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Use feedback themes to improve onboarding, then invite testers back for reviewer flows and project updates.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040E4-A65A-4BD9-AF28-6D4B7517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5364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917DA-84D9-4C03-84FB-0BA6E70D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The next roadmap turns validation into ecosystem readiness.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C1DD0-969F-4151-BA86-C7B76E5E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66C3E-6ABE-4713-91F5-2FEA5AE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BBA07-D25A-4C89-B9BB-3CACF59D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1FAD1-D403-4AD6-87E9-CA9B5445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Finish Level 5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26699-9462-4FD3-BFF6-B4B7038A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Collect 50+ tester rows, transaction hashes, screenshots, final demo, and README links.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A4A06-026D-45F0-8957-D4C37F0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45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43A7F-D8C3-4254-889F-00BD7E0F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8BA94-FB38-4216-9128-8594C0CD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Reduce onboarding friction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40746-B4BF-45D6-B698-000FBFB7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Use feedback to simplify wallet setup, proof submission, and grant discovery.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541AD-813C-4DB3-9802-F8D38C49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90966-A035-444B-83B8-C18ECB05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83C44-F822-4F43-9581-E61BF307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Scale reviewer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B8954-7711-4917-B8C2-ADEB865C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Add project share links, reviewer queue, public campaign pages, and retention analytics.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FB5E2-5507-48D5-8C3B-EAD17B71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0933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5BCF0-D602-4AE2-BAE2-1A38C1F7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GrantPulse is ready for Level 5 field validation.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3C309-F8C4-46BA-B5AC-4A93E424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The product now has the user onboarding loop, evidence exports, documentation, pitch material, and demo script needed to complete the Blue Belt submission once real tester data is collected.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db136d8254dfc"/>
          <a:srcRect xmlns:a="http://schemas.openxmlformats.org/drawingml/2006/main" l="0" t="43401" r="0" b="43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23900"/>
            <a:ext cx="2628900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6E2B3-E9DE-48F1-B47E-525619B6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Final submission package: GitHub repository, live app, pitch deck, demo video, Excel export, feedback iteration summary, and 50+ real transaction proofs.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38F30-D71C-4C32-AE46-C3E8A422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56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7336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2026-08-15T12:11:05.0500000Z</dcterms:created>
  <dcterms:modified xsi:type="dcterms:W3CDTF">2026-08-15T12:11:05.0500000Z</dcterms:modified>
</coreProperties>
</file>